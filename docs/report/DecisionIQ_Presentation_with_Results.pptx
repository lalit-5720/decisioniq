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59" r:id="rId5"/>
    <p:sldId id="260" r:id="rId6"/>
    <p:sldId id="263" r:id="rId7"/>
    <p:sldId id="265" r:id="rId8"/>
    <p:sldId id="266" r:id="rId9"/>
    <p:sldId id="267" r:id="rId10"/>
    <p:sldId id="262" r:id="rId11"/>
    <p:sldId id="268" r:id="rId17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1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3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dPt>
            <c:idx val="0"/>
            <c:spPr>
              <a:solidFill>
                <a:srgbClr val="00A1DA"/>
              </a:solidFill>
            </c:spPr>
          </c:dPt>
          <c:dPt>
            <c:idx val="1"/>
            <c:spPr>
              <a:solidFill>
                <a:srgbClr val="000A30"/>
              </a:solidFill>
            </c:spPr>
          </c:dPt>
          <c:dPt>
            <c:idx val="2"/>
            <c:spPr>
              <a:solidFill>
                <a:srgbClr val="000A30"/>
              </a:solidFill>
            </c:spPr>
          </c:dPt>
          <c:dPt>
            <c:idx val="3"/>
            <c:spPr>
              <a:solidFill>
                <a:srgbClr val="000A30"/>
              </a:solidFill>
            </c:spPr>
          </c:dPt>
          <c:dPt>
            <c:idx val="4"/>
            <c:spPr>
              <a:solidFill>
                <a:srgbClr val="9AA7BD"/>
              </a:solidFill>
            </c:spPr>
          </c:dPt>
          <c:dPt>
            <c:idx val="5"/>
            <c:spPr>
              <a:solidFill>
                <a:srgbClr val="9AA7BD"/>
              </a:solidFill>
            </c:spPr>
          </c:dPt>
          <c:cat>
            <c:strRef>
              <c:f>Sheet1!$A$2:$A$7</c:f>
              <c:strCache>
                <c:ptCount val="6"/>
                <c:pt idx="0">
                  <c:v>XGBoost</c:v>
                </c:pt>
                <c:pt idx="1">
                  <c:v>LSTM</c:v>
                </c:pt>
                <c:pt idx="2">
                  <c:v>Prophet</c:v>
                </c:pt>
                <c:pt idx="3">
                  <c:v>SARIMA</c:v>
                </c:pt>
                <c:pt idx="4">
                  <c:v>Weekday average (naive)</c:v>
                </c:pt>
                <c:pt idx="5">
                  <c:v>Same weekday last week (naive)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12.28</c:v>
                </c:pt>
                <c:pt idx="1">
                  <c:v>12.42</c:v>
                </c:pt>
                <c:pt idx="2">
                  <c:v>13.37</c:v>
                </c:pt>
                <c:pt idx="3">
                  <c:v>23.81</c:v>
                </c:pt>
                <c:pt idx="4">
                  <c:v>24.28</c:v>
                </c:pt>
                <c:pt idx="5">
                  <c:v>26.42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9CCE4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F2A44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1750">
              <a:solidFill>
                <a:srgbClr val="00A1DA"/>
              </a:solidFill>
            </a:ln>
          </c:spPr>
          <c:marker>
            <c:size val="6"/>
            <c:spPr>
              <a:solidFill>
                <a:srgbClr val="00A1DA"/>
              </a:solidFill>
              <a:ln>
                <a:solidFill>
                  <a:srgbClr val="00A1DA"/>
                </a:solidFill>
              </a:ln>
            </c:spPr>
          </c:marker>
          <c:cat>
            <c:strRef>
              <c:f>Sheet1!$A$2:$A$14</c:f>
              <c:strCache>
                <c:ptCount val="13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201484.0</c:v>
                </c:pt>
                <c:pt idx="1">
                  <c:v>201950.0</c:v>
                </c:pt>
                <c:pt idx="2">
                  <c:v>202835.0</c:v>
                </c:pt>
                <c:pt idx="3">
                  <c:v>201583.0</c:v>
                </c:pt>
                <c:pt idx="4">
                  <c:v>215624.0</c:v>
                </c:pt>
                <c:pt idx="5">
                  <c:v>217377.0</c:v>
                </c:pt>
                <c:pt idx="6">
                  <c:v>217033.0</c:v>
                </c:pt>
                <c:pt idx="7">
                  <c:v>217025.0</c:v>
                </c:pt>
                <c:pt idx="8">
                  <c:v>180241.0</c:v>
                </c:pt>
                <c:pt idx="9">
                  <c:v>154637.0</c:v>
                </c:pt>
                <c:pt idx="10">
                  <c:v>155423.0</c:v>
                </c:pt>
                <c:pt idx="11">
                  <c:v>155253.0</c:v>
                </c:pt>
                <c:pt idx="12">
                  <c:v>137944.0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</c:v>
                </c:pt>
              </c:strCache>
            </c:strRef>
          </c:tx>
          <c:spPr>
            <a:ln w="31750">
              <a:solidFill>
                <a:srgbClr val="000A30"/>
              </a:solidFill>
            </a:ln>
          </c:spPr>
          <c:marker>
            <c:size val="6"/>
            <c:spPr>
              <a:solidFill>
                <a:srgbClr val="000A30"/>
              </a:solidFill>
              <a:ln>
                <a:solidFill>
                  <a:srgbClr val="000A30"/>
                </a:solidFill>
              </a:ln>
            </c:spPr>
          </c:marker>
          <c:cat>
            <c:strRef>
              <c:f>Sheet1!$A$2:$A$14</c:f>
              <c:strCache>
                <c:ptCount val="13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199314.0</c:v>
                </c:pt>
                <c:pt idx="1">
                  <c:v>198477.0</c:v>
                </c:pt>
                <c:pt idx="2">
                  <c:v>198056.0</c:v>
                </c:pt>
                <c:pt idx="3">
                  <c:v>197544.0</c:v>
                </c:pt>
                <c:pt idx="4">
                  <c:v>207937.0</c:v>
                </c:pt>
                <c:pt idx="5">
                  <c:v>209610.0</c:v>
                </c:pt>
                <c:pt idx="6">
                  <c:v>209002.0</c:v>
                </c:pt>
                <c:pt idx="7">
                  <c:v>208415.0</c:v>
                </c:pt>
                <c:pt idx="8">
                  <c:v>172935.0</c:v>
                </c:pt>
                <c:pt idx="9">
                  <c:v>148457.0</c:v>
                </c:pt>
                <c:pt idx="10">
                  <c:v>147614.0</c:v>
                </c:pt>
                <c:pt idx="11">
                  <c:v>147047.0</c:v>
                </c:pt>
                <c:pt idx="12">
                  <c:v>129043.0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9CCE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DCE3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1F2A44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00A1DA"/>
            </a:solidFill>
          </c:spPr>
          <c:cat>
            <c:strRef>
              <c:f>Sheet1!$A$2:$A$7</c:f>
              <c:strCache>
                <c:ptCount val="6"/>
                <c:pt idx="0">
                  <c:v>rolling_mean_14</c:v>
                </c:pt>
                <c:pt idx="1">
                  <c:v>lag_7</c:v>
                </c:pt>
                <c:pt idx="2">
                  <c:v>dow</c:v>
                </c:pt>
                <c:pt idx="3">
                  <c:v>is_weekend</c:v>
                </c:pt>
                <c:pt idx="4">
                  <c:v>day_of_year</c:v>
                </c:pt>
                <c:pt idx="5">
                  <c:v>month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51.1</c:v>
                </c:pt>
                <c:pt idx="1">
                  <c:v>15.0</c:v>
                </c:pt>
                <c:pt idx="2">
                  <c:v>12.8</c:v>
                </c:pt>
                <c:pt idx="3">
                  <c:v>4.0</c:v>
                </c:pt>
                <c:pt idx="4">
                  <c:v>4.0</c:v>
                </c:pt>
                <c:pt idx="5">
                  <c:v>3.3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9CCE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F2A44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00A30"/>
            </a:solidFill>
          </c:spPr>
          <c:cat>
            <c:strRef>
              <c:f>Sheet1!$A$2:$A$5</c:f>
              <c:strCache>
                <c:ptCount val="4"/>
                <c:pt idx="0">
                  <c:v>Isolation Forest</c:v>
                </c:pt>
                <c:pt idx="1">
                  <c:v>Autoencoder</c:v>
                </c:pt>
                <c:pt idx="2">
                  <c:v>Z-score rules</c:v>
                </c:pt>
                <c:pt idx="3">
                  <c:v>Ensemble (2 of 3)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0.07</c:v>
                </c:pt>
                <c:pt idx="1">
                  <c:v>0.48</c:v>
                </c:pt>
                <c:pt idx="2">
                  <c:v>0.3</c:v>
                </c:pt>
                <c:pt idx="3">
                  <c:v>0.67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A1DA"/>
            </a:solidFill>
          </c:spPr>
          <c:cat>
            <c:strRef>
              <c:f>Sheet1!$A$2:$A$5</c:f>
              <c:strCache>
                <c:ptCount val="4"/>
                <c:pt idx="0">
                  <c:v>Isolation Forest</c:v>
                </c:pt>
                <c:pt idx="1">
                  <c:v>Autoencoder</c:v>
                </c:pt>
                <c:pt idx="2">
                  <c:v>Z-score rules</c:v>
                </c:pt>
                <c:pt idx="3">
                  <c:v>Ensemble (2 of 3)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</c:v>
                </c:pt>
                <c:pt idx="1">
                  <c:v>0.7</c:v>
                </c:pt>
                <c:pt idx="2">
                  <c:v>0.78</c:v>
                </c:pt>
                <c:pt idx="3">
                  <c:v>0.7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9AA7BD"/>
            </a:solidFill>
          </c:spPr>
          <c:cat>
            <c:strRef>
              <c:f>Sheet1!$A$2:$A$5</c:f>
              <c:strCache>
                <c:ptCount val="4"/>
                <c:pt idx="0">
                  <c:v>Isolation Forest</c:v>
                </c:pt>
                <c:pt idx="1">
                  <c:v>Autoencoder</c:v>
                </c:pt>
                <c:pt idx="2">
                  <c:v>Z-score rules</c:v>
                </c:pt>
                <c:pt idx="3">
                  <c:v>Ensemble (2 of 3)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0.09</c:v>
                </c:pt>
                <c:pt idx="1">
                  <c:v>0.57</c:v>
                </c:pt>
                <c:pt idx="2">
                  <c:v>0.43</c:v>
                </c:pt>
                <c:pt idx="3">
                  <c:v>0.68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9CCE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1F2A44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Actions</c:v>
                </c:pt>
              </c:strCache>
            </c:strRef>
          </c:tx>
          <c:dPt>
            <c:idx val="0"/>
            <c:spPr>
              <a:solidFill>
                <a:srgbClr val="000A30"/>
              </a:solidFill>
            </c:spPr>
          </c:dPt>
          <c:dPt>
            <c:idx val="1"/>
            <c:spPr>
              <a:solidFill>
                <a:srgbClr val="00A1DA"/>
              </a:solidFill>
            </c:spPr>
          </c:dPt>
          <c:dPt>
            <c:idx val="2"/>
            <c:spPr>
              <a:solidFill>
                <a:srgbClr val="4B6FA5"/>
              </a:solidFill>
            </c:spPr>
          </c:dPt>
          <c:dPt>
            <c:idx val="3"/>
            <c:spPr>
              <a:solidFill>
                <a:srgbClr val="7A8DB0"/>
              </a:solidFill>
            </c:spPr>
          </c:dPt>
          <c:cat>
            <c:strRef>
              <c:f>Sheet1!$A$2:$A$5</c:f>
              <c:strCache>
                <c:ptCount val="4"/>
                <c:pt idx="0">
                  <c:v>Reorders</c:v>
                </c:pt>
                <c:pt idx="1">
                  <c:v>Transfers</c:v>
                </c:pt>
                <c:pt idx="2">
                  <c:v>Markdowns</c:v>
                </c:pt>
                <c:pt idx="3">
                  <c:v>Budget shifts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15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300">
          <a:solidFill>
            <a:srgbClr val="1F2A44"/>
          </a:solidFill>
          <a:latin typeface="Times New Roman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come from docs/results/EVALUATION.md and the project README. Only the daily sales are real; everything else in the retail scenario is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20-series benchmark sample (2 items per store), last 90 days held out, recursive multi-step forecast. XGBoost on all 500 series: MAPE 13.03%, WAPE 11.37%, chain-total MAPE 3.55%, R2 0.92. Best naive baseline on all series: 24.54%.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chain-wide totals of the 90-day holdout (2017-10-03 to 2017-12-31), XGBoost recursive forecast from the training cut-off. WAPE/bias by horizon from docs/results/tables/error_by_horizon.csv.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 TreeSHAP via XGBoost pred_contribs: base value plus feature contributions equals the forecast (balance verified to 1e-6 in tests). Global shares are mean |SHAP| over a sample of store-days.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Row-level metrics against injected anomalies (944 billed rows: 200 duplicate billing, 150 margin erosion, 594 demand-drop days; 40 logistics spikes). The detectors never see labels. Ensemble = at least two of three detectors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49 actions generated from the 90-day forecast and the synthetic current stock position. The simulator uses stated assumptions (category price elasticities, write-off rates, marketing share).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Timings measured on the development machine (CPU only). Smoke test: scripts/smoke_test.py, 23 checks through the nginx container on port 8080. Coverage from docs/results/EVALUATION.md.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traceability with deviations and assumptions: docs/report/OBJECTIVES_TRACEABILITY.md.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drawn from the measured results; limitations are stated in docs/report/CHAPTER_5_Conclusion_and_Recommendations.md.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30EF-CDE6-4A62-A0EA-A66CB8445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ECF-0BE2-4BB3-9E04-496590DB1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2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30EF-CDE6-4A62-A0EA-A66CB8445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ECF-0BE2-4BB3-9E04-496590DB1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3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30EF-CDE6-4A62-A0EA-A66CB8445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ECF-0BE2-4BB3-9E04-496590DB1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8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30EF-CDE6-4A62-A0EA-A66CB8445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ECF-0BE2-4BB3-9E04-496590DB1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33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30EF-CDE6-4A62-A0EA-A66CB8445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ECF-0BE2-4BB3-9E04-496590DB1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04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30EF-CDE6-4A62-A0EA-A66CB8445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ECF-0BE2-4BB3-9E04-496590DB1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96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30EF-CDE6-4A62-A0EA-A66CB8445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ECF-0BE2-4BB3-9E04-496590DB1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30EF-CDE6-4A62-A0EA-A66CB8445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ECF-0BE2-4BB3-9E04-496590DB1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24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30EF-CDE6-4A62-A0EA-A66CB8445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ECF-0BE2-4BB3-9E04-496590DB1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75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30EF-CDE6-4A62-A0EA-A66CB8445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ECF-0BE2-4BB3-9E04-496590DB1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22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30EF-CDE6-4A62-A0EA-A66CB8445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ECF-0BE2-4BB3-9E04-496590DB1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31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930EF-CDE6-4A62-A0EA-A66CB8445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1AECF-0BE2-4BB3-9E04-496590DB1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4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4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4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4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4" Type="http://schemas.openxmlformats.org/officeDocument/2006/relationships/chart" Target="../charts/char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84701"/>
            <a:ext cx="12192000" cy="704270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/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4839619" y="6303964"/>
            <a:ext cx="2853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IN" dirty="0">
                <a:solidFill>
                  <a:schemeClr val="bg1"/>
                </a:solidFill>
              </a:rPr>
              <a:t>www.cambridge.edu.in</a:t>
            </a:r>
          </a:p>
        </p:txBody>
      </p:sp>
      <p:pic>
        <p:nvPicPr>
          <p:cNvPr id="2052" name="Picture Placeholder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" t="-110" r="36201" b="2740"/>
          <a:stretch>
            <a:fillRect/>
          </a:stretch>
        </p:blipFill>
        <p:spPr bwMode="auto">
          <a:xfrm>
            <a:off x="7207624" y="-184704"/>
            <a:ext cx="4984376" cy="7042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itle 6"/>
          <p:cNvSpPr>
            <a:spLocks noGrp="1"/>
          </p:cNvSpPr>
          <p:nvPr>
            <p:ph type="ctrTitle"/>
          </p:nvPr>
        </p:nvSpPr>
        <p:spPr>
          <a:xfrm>
            <a:off x="0" y="5489487"/>
            <a:ext cx="7207623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b="1" i="1" dirty="0">
                <a:solidFill>
                  <a:schemeClr val="bg1"/>
                </a:solidFill>
              </a:rPr>
              <a:t>Department of</a:t>
            </a:r>
            <a:r>
              <a:rPr lang="en-US" sz="2400" b="1" dirty="0">
                <a:solidFill>
                  <a:schemeClr val="bg1"/>
                </a:solidFill>
              </a:rPr>
              <a:t> Master of Computer Applications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65675" y="3473354"/>
            <a:ext cx="676275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2055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933" y="349628"/>
            <a:ext cx="1850231" cy="158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8"/>
          <p:cNvSpPr txBox="1">
            <a:spLocks/>
          </p:cNvSpPr>
          <p:nvPr/>
        </p:nvSpPr>
        <p:spPr>
          <a:xfrm>
            <a:off x="621297" y="2132757"/>
            <a:ext cx="5930153" cy="1377858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600" b="1" dirty="0">
                <a:solidFill>
                  <a:srgbClr val="00A1DA"/>
                </a:solidFill>
                <a:latin typeface="+mn-lt"/>
              </a:rPr>
              <a:t>Project Work</a:t>
            </a:r>
          </a:p>
          <a:p>
            <a:pPr>
              <a:defRPr/>
            </a:pPr>
            <a:r>
              <a:rPr lang="en-US" sz="3600" b="1" dirty="0">
                <a:solidFill>
                  <a:srgbClr val="00A1DA"/>
                </a:solidFill>
                <a:latin typeface="+mn-lt"/>
              </a:rPr>
              <a:t>25MCA604</a:t>
            </a:r>
            <a:endParaRPr lang="en-IN" sz="3600" b="1" dirty="0">
              <a:solidFill>
                <a:srgbClr val="00A1DA"/>
              </a:solidFill>
              <a:latin typeface="+mn-lt"/>
            </a:endParaRPr>
          </a:p>
        </p:txBody>
      </p:sp>
      <p:sp>
        <p:nvSpPr>
          <p:cNvPr id="9" name="Title 6"/>
          <p:cNvSpPr txBox="1">
            <a:spLocks/>
          </p:cNvSpPr>
          <p:nvPr/>
        </p:nvSpPr>
        <p:spPr>
          <a:xfrm>
            <a:off x="-1" y="3707831"/>
            <a:ext cx="7207623" cy="17816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05840" indent="-457200" algn="l">
              <a:lnSpc>
                <a:spcPct val="115000"/>
              </a:lnSpc>
              <a:spcBef>
                <a:spcPts val="300"/>
              </a:spcBef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r>
              <a:rPr lang="en-US" sz="1500" b="1" dirty="0">
                <a:solidFill>
                  <a:srgbClr val="00A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based Business Decision Intelligence and also   	integrated with predictive Analytical system</a:t>
            </a:r>
          </a:p>
          <a:p>
            <a:pPr marL="1005840" indent="-457200" algn="l">
              <a:lnSpc>
                <a:spcPct val="115000"/>
              </a:lnSpc>
              <a:spcBef>
                <a:spcPts val="300"/>
              </a:spcBef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SDG: </a:t>
            </a:r>
            <a:r>
              <a:rPr lang="en-US" sz="1500" b="1" dirty="0">
                <a:solidFill>
                  <a:srgbClr val="00A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</a:p>
          <a:p>
            <a:pPr marL="1005840" indent="-457200" algn="l">
              <a:lnSpc>
                <a:spcPct val="115000"/>
              </a:lnSpc>
              <a:spcBef>
                <a:spcPts val="300"/>
              </a:spcBef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Student: </a:t>
            </a:r>
            <a:r>
              <a:rPr lang="en-US" sz="1500" b="1" dirty="0" err="1">
                <a:solidFill>
                  <a:srgbClr val="00A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V.Tharun</a:t>
            </a:r>
            <a:r>
              <a:rPr lang="en-US" sz="1500" b="1" dirty="0">
                <a:solidFill>
                  <a:srgbClr val="00A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A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endParaRPr lang="en-US" sz="1500" b="1" dirty="0">
              <a:solidFill>
                <a:srgbClr val="00A1D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5840" indent="-457200" algn="l">
              <a:lnSpc>
                <a:spcPct val="115000"/>
              </a:lnSpc>
              <a:spcBef>
                <a:spcPts val="300"/>
              </a:spcBef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USN: </a:t>
            </a:r>
            <a:r>
              <a:rPr lang="en-US" sz="1500" b="1" dirty="0">
                <a:solidFill>
                  <a:srgbClr val="00A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1CD25MC077</a:t>
            </a:r>
          </a:p>
        </p:txBody>
      </p:sp>
    </p:spTree>
    <p:extLst>
      <p:ext uri="{BB962C8B-B14F-4D97-AF65-F5344CB8AC3E}">
        <p14:creationId xmlns:p14="http://schemas.microsoft.com/office/powerpoint/2010/main" val="147530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375" y="762000"/>
            <a:ext cx="9587754" cy="5292445"/>
          </a:xfrm>
        </p:spPr>
        <p:txBody>
          <a:bodyPr anchor="ctr">
            <a:noAutofit/>
          </a:bodyPr>
          <a:lstStyle/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businesses generate large volumes of data across sales, inventory, finance and customer channels, but most of it is used only to report what has already happened.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on stock, pricing, staffing and budgets are still driven by intuition and static reports, so shifts in demand are rarely anticipated in advance.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such as sudden demand drops, revenue leakage, billing fraud and stock-outs are usually identified only after the loss has already occurred.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BI dashboards are descriptive – they show what happened, but not what will happen next or what action should be taken.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and medium enterprises cannot afford dedicated data science teams to build and maintain such predictive models.</a:t>
            </a:r>
          </a:p>
          <a:p>
            <a:pPr>
              <a:lnSpc>
                <a:spcPct val="95000"/>
              </a:lnSpc>
              <a:spcBef>
                <a:spcPts val="16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 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system that analyses business data to predict sales and demand, detect risks and anomalies, and provide intelligent recommendations for better business decision-making and resource optimization.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969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375" y="762000"/>
            <a:ext cx="9587754" cy="5292445"/>
          </a:xfrm>
        </p:spPr>
        <p:txBody>
          <a:bodyPr anchor="ctr">
            <a:noAutofit/>
          </a:bodyPr>
          <a:lstStyle/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errors hit profitability directly – excess stock locks up working capital, while stock-outs cause lost sales and customer churn.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small and mid-sized firms still plan using spreadsheets and personal experience; hiring analytics specialists is expensive, so advanced forecasting stays out of reach.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Fraudulent transactions, duplicate billing and unusual cost spikes go unnoticed when thousands of records are verified manually.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 need more than numbers – they need clear guidance on what to stock, when to reorder and where to reallocate budget.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Mature open-source ML libraries and affordable cloud computing now make such a system practical even for small organisations.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forecasting reduces waste and optimizes resources, supporting SDG 9 (Industry, Innovation and Infrastructure) and SDG 12 (Responsible Consumption and Production).</a:t>
            </a: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44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375" y="762000"/>
            <a:ext cx="9587754" cy="5292445"/>
          </a:xfrm>
        </p:spPr>
        <p:txBody>
          <a:bodyPr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Practice</a:t>
            </a:r>
          </a:p>
          <a:p>
            <a:pPr>
              <a:lnSpc>
                <a:spcPct val="95000"/>
              </a:lnSpc>
              <a:spcBef>
                <a:spcPts val="700"/>
              </a:spcBef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Spreadsheet-based forecasting using simple averages, growth percentages and manual judgement.</a:t>
            </a:r>
          </a:p>
          <a:p>
            <a:pPr>
              <a:lnSpc>
                <a:spcPct val="95000"/>
              </a:lnSpc>
              <a:spcBef>
                <a:spcPts val="700"/>
              </a:spcBef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BI dashboards (Excel, Power BI, Tableau) that summarise historical performance.</a:t>
            </a:r>
          </a:p>
          <a:p>
            <a:pPr>
              <a:lnSpc>
                <a:spcPct val="95000"/>
              </a:lnSpc>
              <a:spcBef>
                <a:spcPts val="700"/>
              </a:spcBef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and inventory modules with static reorder levels and fixed threshold-based alerts.</a:t>
            </a:r>
          </a:p>
          <a:p>
            <a:pPr>
              <a:lnSpc>
                <a:spcPct val="95000"/>
              </a:lnSpc>
              <a:spcBef>
                <a:spcPts val="700"/>
              </a:spcBef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statistical models (ARIMA, regression) built by analysts outside the daily business workflow.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lnSpc>
                <a:spcPct val="95000"/>
              </a:lnSpc>
              <a:spcBef>
                <a:spcPts val="700"/>
              </a:spcBef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and reactive – explains what happened, not what will happen or what to do about it.</a:t>
            </a:r>
          </a:p>
          <a:p>
            <a:pPr>
              <a:lnSpc>
                <a:spcPct val="95000"/>
              </a:lnSpc>
              <a:spcBef>
                <a:spcPts val="700"/>
              </a:spcBef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 seasonality, festivals, promotions and other external factors that drive real demand.</a:t>
            </a:r>
          </a:p>
          <a:p>
            <a:pPr>
              <a:lnSpc>
                <a:spcPct val="95000"/>
              </a:lnSpc>
              <a:spcBef>
                <a:spcPts val="700"/>
              </a:spcBef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anomaly or risk detection; problems surface only after financial loss.</a:t>
            </a:r>
          </a:p>
          <a:p>
            <a:pPr>
              <a:lnSpc>
                <a:spcPct val="95000"/>
              </a:lnSpc>
              <a:spcBef>
                <a:spcPts val="700"/>
              </a:spcBef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stays siloed across billing, inventory and accounting systems, so there is no single unified view.</a:t>
            </a:r>
          </a:p>
          <a:p>
            <a:pPr>
              <a:lnSpc>
                <a:spcPct val="95000"/>
              </a:lnSpc>
              <a:spcBef>
                <a:spcPts val="700"/>
              </a:spcBef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expertise and heavy manual effort, and does not scale as data volume grows.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899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375" y="762000"/>
            <a:ext cx="9587754" cy="5292445"/>
          </a:xfrm>
        </p:spPr>
        <p:txBody>
          <a:bodyPr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integrated, web-based Decision Intelligence platform built around five modules:</a:t>
            </a:r>
          </a:p>
          <a:p>
            <a:pPr>
              <a:lnSpc>
                <a:spcPct val="95000"/>
              </a:lnSpc>
              <a:spcBef>
                <a:spcPts val="1000"/>
              </a:spcBef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Layer – 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imports sales, inventory, finance and CRM data from CSV, Excel or databases, then cleans it, handles missing values and engineers features such as lags, rolling averages, seasonality and holiday flags.</a:t>
            </a:r>
          </a:p>
          <a:p>
            <a:pPr>
              <a:lnSpc>
                <a:spcPct val="95000"/>
              </a:lnSpc>
              <a:spcBef>
                <a:spcPts val="1000"/>
              </a:spcBef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Engine – 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and machine learning models (ARIMA/SARIMA, Prophet, XGBoost, LSTM) forecast sales and demand by product, category and region, with the best-performing model selected automatically.</a:t>
            </a:r>
          </a:p>
          <a:p>
            <a:pPr>
              <a:lnSpc>
                <a:spcPct val="95000"/>
              </a:lnSpc>
              <a:spcBef>
                <a:spcPts val="1000"/>
              </a:spcBef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and Anomaly Detection – 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and autoencoder based detection flags unusual transactions, cost spikes, margin erosion and abnormal demand variation in near real time.</a:t>
            </a:r>
          </a:p>
          <a:p>
            <a:pPr>
              <a:lnSpc>
                <a:spcPct val="95000"/>
              </a:lnSpc>
              <a:spcBef>
                <a:spcPts val="1000"/>
              </a:spcBef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 – 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forecasts and risk signals into concrete actions: reorder quantity, safety stock levels, pricing and discount suggestions, and budget reallocation.</a:t>
            </a:r>
          </a:p>
          <a:p>
            <a:pPr>
              <a:lnSpc>
                <a:spcPct val="95000"/>
              </a:lnSpc>
              <a:spcBef>
                <a:spcPts val="1000"/>
              </a:spcBef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Dashboard – 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monitoring, drill-down charts, alerts, what-if simulation and plain-language explanations backed by feature-importance scores.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363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375" y="762000"/>
            <a:ext cx="9587754" cy="5292445"/>
          </a:xfrm>
        </p:spPr>
        <p:txBody>
          <a:bodyPr anchor="ctr">
            <a:noAutofit/>
          </a:bodyPr>
          <a:lstStyle/>
          <a:p>
            <a:pPr marL="514350" indent="-514350">
              <a:lnSpc>
                <a:spcPct val="95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unified data ingestion and preprocessing pipeline that consolidates sales, inventory, finance and customer data from multiple sources into a single analysis-ready dataset.</a:t>
            </a:r>
          </a:p>
          <a:p>
            <a:pPr marL="514350" indent="-514350">
              <a:lnSpc>
                <a:spcPct val="95000"/>
              </a:lnSpc>
              <a:spcBef>
                <a:spcPts val="1800"/>
              </a:spcBef>
              <a:buFont typeface="+mj-lt"/>
              <a:buAutoNum type="arabicPeriod" startAt="2"/>
            </a:pPr>
            <a:r>
              <a:rPr lang="en-US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machine learning and time-series models that forecast future sales and product demand at product, category and regional level.</a:t>
            </a:r>
          </a:p>
          <a:p>
            <a:pPr marL="514350" indent="-514350">
              <a:lnSpc>
                <a:spcPct val="95000"/>
              </a:lnSpc>
              <a:spcBef>
                <a:spcPts val="1800"/>
              </a:spcBef>
              <a:buFont typeface="+mj-lt"/>
              <a:buAutoNum type="arabicPeriod" startAt="3"/>
            </a:pPr>
            <a:r>
              <a:rPr lang="en-US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anomaly detection module that identifies operational and financial risks such as fraudulent transactions, cost spikes and abnormal demand variation.</a:t>
            </a:r>
          </a:p>
          <a:p>
            <a:pPr marL="514350" indent="-514350">
              <a:lnSpc>
                <a:spcPct val="95000"/>
              </a:lnSpc>
              <a:spcBef>
                <a:spcPts val="1800"/>
              </a:spcBef>
              <a:buFont typeface="+mj-lt"/>
              <a:buAutoNum type="arabicPeriod" startAt="4"/>
            </a:pPr>
            <a:r>
              <a:rPr lang="en-US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recommendation engine that translates forecasts and risk signals into concrete decisions on inventory, pricing and resource allocation.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783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(contd)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375" y="762000"/>
            <a:ext cx="9587754" cy="5292445"/>
          </a:xfrm>
        </p:spPr>
        <p:txBody>
          <a:bodyPr anchor="ctr">
            <a:noAutofit/>
          </a:bodyPr>
          <a:lstStyle/>
          <a:p>
            <a:pPr marL="514350" indent="-514350">
              <a:lnSpc>
                <a:spcPct val="95000"/>
              </a:lnSpc>
              <a:spcBef>
                <a:spcPts val="1800"/>
              </a:spcBef>
              <a:buFont typeface="+mj-lt"/>
              <a:buAutoNum type="arabicPeriod" startAt="5"/>
            </a:pPr>
            <a:r>
              <a:rPr lang="en-US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incorporate explainable AI techniques so that every prediction and recommendation can be justified to business users.</a:t>
            </a:r>
          </a:p>
          <a:p>
            <a:pPr marL="514350" indent="-514350">
              <a:lnSpc>
                <a:spcPct val="95000"/>
              </a:lnSpc>
              <a:spcBef>
                <a:spcPts val="1800"/>
              </a:spcBef>
              <a:buFont typeface="+mj-lt"/>
              <a:buAutoNum type="arabicPeriod" startAt="6"/>
            </a:pPr>
            <a:r>
              <a:rPr lang="en-US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interactive dashboard providing KPI monitoring, drill-down analysis, automated alerts and what-if simulation for decision support.</a:t>
            </a:r>
          </a:p>
          <a:p>
            <a:pPr marL="514350" indent="-514350">
              <a:lnSpc>
                <a:spcPct val="95000"/>
              </a:lnSpc>
              <a:spcBef>
                <a:spcPts val="1800"/>
              </a:spcBef>
              <a:buFont typeface="+mj-lt"/>
              <a:buAutoNum type="arabicPeriod" startAt="7"/>
            </a:pPr>
            <a:r>
              <a:rPr lang="en-US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model performance using standard metrics – MAE, RMSE and MAPE for forecasting, and precision, recall and F1-score for anomaly detection.</a:t>
            </a:r>
          </a:p>
          <a:p>
            <a:pPr marL="514350" indent="-514350">
              <a:lnSpc>
                <a:spcPct val="95000"/>
              </a:lnSpc>
              <a:spcBef>
                <a:spcPts val="1800"/>
              </a:spcBef>
              <a:buFont typeface="+mj-lt"/>
              <a:buAutoNum type="arabicPeriod" startAt="8"/>
            </a:pPr>
            <a:r>
              <a:rPr lang="en-US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the system is modular, scalable and secure, with role-based access control and support for periodic model retraining.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026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101" name="Layer"/>
          <p:cNvSpPr/>
          <p:nvPr/>
        </p:nvSpPr>
        <p:spPr>
          <a:xfrm>
            <a:off x="1783080" y="868680"/>
            <a:ext cx="9601200" cy="713232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B9CCE4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1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&amp; Billing  |  Inventory  |  Finance / ERP  |  CRM  |  CSV, Excel &amp; SQL files  |  External factors (festivals, promotions, weather)</a:t>
            </a:r>
          </a:p>
        </p:txBody>
      </p:sp>
      <p:sp>
        <p:nvSpPr>
          <p:cNvPr id="102" name="Flow Arrow"/>
          <p:cNvSpPr/>
          <p:nvPr/>
        </p:nvSpPr>
        <p:spPr>
          <a:xfrm>
            <a:off x="6492240" y="1604772"/>
            <a:ext cx="182880" cy="201168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00A1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Layer"/>
          <p:cNvSpPr/>
          <p:nvPr/>
        </p:nvSpPr>
        <p:spPr>
          <a:xfrm>
            <a:off x="1783080" y="1810512"/>
            <a:ext cx="9601200" cy="713232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B9CCE4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&amp; PREPROCESSING LAYER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1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 |  Missing-value handling  |  Outlier treatment  |  Feature engineering: lag variables, rolling means, seasonality &amp; holiday flags</a:t>
            </a:r>
          </a:p>
        </p:txBody>
      </p:sp>
      <p:sp>
        <p:nvSpPr>
          <p:cNvPr id="104" name="Flow Arrow"/>
          <p:cNvSpPr/>
          <p:nvPr/>
        </p:nvSpPr>
        <p:spPr>
          <a:xfrm>
            <a:off x="6492240" y="2546604"/>
            <a:ext cx="182880" cy="201168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00A1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AI Engine"/>
          <p:cNvSpPr/>
          <p:nvPr/>
        </p:nvSpPr>
        <p:spPr>
          <a:xfrm>
            <a:off x="1783080" y="2752344"/>
            <a:ext cx="9601200" cy="1417320"/>
          </a:xfrm>
          <a:prstGeom prst="roundRect">
            <a:avLst>
              <a:gd name="adj" fmla="val 8000"/>
            </a:avLst>
          </a:prstGeom>
          <a:solidFill>
            <a:srgbClr val="000A30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06" name="Engine Title"/>
          <p:cNvSpPr txBox="1"/>
          <p:nvPr/>
        </p:nvSpPr>
        <p:spPr>
          <a:xfrm>
            <a:off x="1783080" y="28346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/ MACHINE LEARNING ENGINE</a:t>
            </a:r>
          </a:p>
        </p:txBody>
      </p:sp>
      <p:sp>
        <p:nvSpPr>
          <p:cNvPr id="107" name="Engine Module"/>
          <p:cNvSpPr/>
          <p:nvPr/>
        </p:nvSpPr>
        <p:spPr>
          <a:xfrm>
            <a:off x="1965960" y="3172968"/>
            <a:ext cx="2956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Forecasting Module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110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 / SARIMA, Prophet,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110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XGBoost, LSTM</a:t>
            </a:r>
          </a:p>
        </p:txBody>
      </p:sp>
      <p:sp>
        <p:nvSpPr>
          <p:cNvPr id="108" name="Engine Module"/>
          <p:cNvSpPr/>
          <p:nvPr/>
        </p:nvSpPr>
        <p:spPr>
          <a:xfrm>
            <a:off x="5105400" y="3172968"/>
            <a:ext cx="2956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&amp; Anomaly Detection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110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Forest, Autoencoder,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110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Z-score thresholds</a:t>
            </a:r>
          </a:p>
        </p:txBody>
      </p:sp>
      <p:sp>
        <p:nvSpPr>
          <p:cNvPr id="109" name="Engine Module"/>
          <p:cNvSpPr/>
          <p:nvPr/>
        </p:nvSpPr>
        <p:spPr>
          <a:xfrm>
            <a:off x="8244840" y="3172968"/>
            <a:ext cx="2956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110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Rule-based logic +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110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on predictions</a:t>
            </a:r>
          </a:p>
        </p:txBody>
      </p:sp>
      <p:sp>
        <p:nvSpPr>
          <p:cNvPr id="110" name="Flow Arrow"/>
          <p:cNvSpPr/>
          <p:nvPr/>
        </p:nvSpPr>
        <p:spPr>
          <a:xfrm>
            <a:off x="6492240" y="4197096"/>
            <a:ext cx="182880" cy="201168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00A1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Layer"/>
          <p:cNvSpPr/>
          <p:nvPr/>
        </p:nvSpPr>
        <p:spPr>
          <a:xfrm>
            <a:off x="1783080" y="4398264"/>
            <a:ext cx="9601200" cy="658368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B9CCE4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&amp; EXPLAINABILITY LAYER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1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computation  |  SHAP / LIME feature importance  |  Automated alert generation  |  Plain-language insight summaries</a:t>
            </a:r>
          </a:p>
        </p:txBody>
      </p:sp>
      <p:sp>
        <p:nvSpPr>
          <p:cNvPr id="112" name="Flow Arrow"/>
          <p:cNvSpPr/>
          <p:nvPr/>
        </p:nvSpPr>
        <p:spPr>
          <a:xfrm>
            <a:off x="6492240" y="5102352"/>
            <a:ext cx="182880" cy="201168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00A1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Layer"/>
          <p:cNvSpPr/>
          <p:nvPr/>
        </p:nvSpPr>
        <p:spPr>
          <a:xfrm>
            <a:off x="1783080" y="5285232"/>
            <a:ext cx="9601200" cy="658368"/>
          </a:xfrm>
          <a:prstGeom prst="roundRect">
            <a:avLst>
              <a:gd name="adj" fmla="val 8000"/>
            </a:avLst>
          </a:prstGeom>
          <a:solidFill>
            <a:srgbClr val="00A1DA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DASHBOARD  (Web Application)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150" b="0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 charts  |  Drill-down analysis  |  Risk alerts  |  What-if simulation  |  Exportable reports for management</a:t>
            </a:r>
          </a:p>
        </p:txBody>
      </p:sp>
    </p:spTree>
    <p:extLst>
      <p:ext uri="{BB962C8B-B14F-4D97-AF65-F5344CB8AC3E}">
        <p14:creationId xmlns:p14="http://schemas.microsoft.com/office/powerpoint/2010/main" val="1418969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114" name="Tool Card"/>
          <p:cNvSpPr/>
          <p:nvPr/>
        </p:nvSpPr>
        <p:spPr>
          <a:xfrm>
            <a:off x="1783080" y="1115568"/>
            <a:ext cx="2208276" cy="141732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B9CCE4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3.11,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Notebook, VS Code</a:t>
            </a:r>
          </a:p>
        </p:txBody>
      </p:sp>
      <p:sp>
        <p:nvSpPr>
          <p:cNvPr id="115" name="Tool Card"/>
          <p:cNvSpPr/>
          <p:nvPr/>
        </p:nvSpPr>
        <p:spPr>
          <a:xfrm>
            <a:off x="4247388" y="1115568"/>
            <a:ext cx="2208276" cy="141732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B9CCE4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NumPy,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</a:p>
        </p:txBody>
      </p:sp>
      <p:sp>
        <p:nvSpPr>
          <p:cNvPr id="116" name="Tool Card"/>
          <p:cNvSpPr/>
          <p:nvPr/>
        </p:nvSpPr>
        <p:spPr>
          <a:xfrm>
            <a:off x="6711696" y="1115568"/>
            <a:ext cx="2208276" cy="141732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B9CCE4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Scikit-learn, XGBoost,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Statsmodels, Prophet</a:t>
            </a:r>
          </a:p>
        </p:txBody>
      </p:sp>
      <p:sp>
        <p:nvSpPr>
          <p:cNvPr id="117" name="Tool Card"/>
          <p:cNvSpPr/>
          <p:nvPr/>
        </p:nvSpPr>
        <p:spPr>
          <a:xfrm>
            <a:off x="9176004" y="1115568"/>
            <a:ext cx="2208276" cy="141732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B9CCE4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Keras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(LSTM networks)</a:t>
            </a:r>
          </a:p>
        </p:txBody>
      </p:sp>
      <p:sp>
        <p:nvSpPr>
          <p:cNvPr id="118" name="Tool Card"/>
          <p:cNvSpPr/>
          <p:nvPr/>
        </p:nvSpPr>
        <p:spPr>
          <a:xfrm>
            <a:off x="1783080" y="2898648"/>
            <a:ext cx="2208276" cy="141732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B9CCE4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SHAP, LIME,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feature-importance plots</a:t>
            </a:r>
          </a:p>
        </p:txBody>
      </p:sp>
      <p:sp>
        <p:nvSpPr>
          <p:cNvPr id="119" name="Tool Card"/>
          <p:cNvSpPr/>
          <p:nvPr/>
        </p:nvSpPr>
        <p:spPr>
          <a:xfrm>
            <a:off x="4247388" y="2898648"/>
            <a:ext cx="2208276" cy="141732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B9CCE4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API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/ FastAPI,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services</a:t>
            </a:r>
          </a:p>
        </p:txBody>
      </p:sp>
      <p:sp>
        <p:nvSpPr>
          <p:cNvPr id="120" name="Tool Card"/>
          <p:cNvSpPr/>
          <p:nvPr/>
        </p:nvSpPr>
        <p:spPr>
          <a:xfrm>
            <a:off x="6711696" y="2898648"/>
            <a:ext cx="2208276" cy="141732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B9CCE4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&amp; Charts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React.js, Plotly,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Chart.js</a:t>
            </a:r>
          </a:p>
        </p:txBody>
      </p:sp>
      <p:sp>
        <p:nvSpPr>
          <p:cNvPr id="121" name="Tool Card"/>
          <p:cNvSpPr/>
          <p:nvPr/>
        </p:nvSpPr>
        <p:spPr>
          <a:xfrm>
            <a:off x="9176004" y="2898648"/>
            <a:ext cx="2208276" cy="141732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B9CCE4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DevOps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MySQL, MongoDB,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Docker, Git / GitHub</a:t>
            </a:r>
          </a:p>
        </p:txBody>
      </p:sp>
      <p:sp>
        <p:nvSpPr>
          <p:cNvPr id="122" name="Methodology"/>
          <p:cNvSpPr/>
          <p:nvPr/>
        </p:nvSpPr>
        <p:spPr>
          <a:xfrm>
            <a:off x="1783080" y="466344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A1DA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000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1250" b="0" i="0" dirty="0">
                <a:solidFill>
                  <a:srgbClr val="1F2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Iterative Agile development following the CRISP-DM lifecycle – business understanding, data understanding, data preparation, modelling, evaluation and deployment.</a:t>
            </a:r>
          </a:p>
        </p:txBody>
      </p:sp>
    </p:spTree>
    <p:extLst>
      <p:ext uri="{BB962C8B-B14F-4D97-AF65-F5344CB8AC3E}">
        <p14:creationId xmlns:p14="http://schemas.microsoft.com/office/powerpoint/2010/main" val="141896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375" y="762000"/>
            <a:ext cx="9587754" cy="5292445"/>
          </a:xfrm>
        </p:spPr>
        <p:txBody>
          <a:bodyPr anchor="ctr">
            <a:noAutofit/>
          </a:bodyPr>
          <a:lstStyle/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web-based decision intelligence platform that unifies business data and produces predictions on demand.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and demand forecasts at product, category and regional level, targeting a forecast error (MAPE) within 10–15% on the test data.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risk and anomaly alerts that cut detection time from days to near real time.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recommendations for reordering, pricing and budget allocation that help reduce both stock-outs and excess inventory.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Transparent, explainable outputs that build user trust and support internal audit requirements.</a:t>
            </a:r>
          </a:p>
          <a:p>
            <a:pPr>
              <a:lnSpc>
                <a:spcPct val="95000"/>
              </a:lnSpc>
              <a:spcBef>
                <a:spcPts val="800"/>
              </a:spcBef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dependence on specialised analytics expertise, with measurably faster decision cycles for management.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600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037" y="1462087"/>
            <a:ext cx="473392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10041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Summary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9" name="Stat 913,000"/>
          <p:cNvSpPr/>
          <p:nvPr/>
        </p:nvSpPr>
        <p:spPr>
          <a:xfrm>
            <a:off x="914400" y="132588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000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399032"/>
            <a:ext cx="1737360" cy="7086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913,000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34540"/>
            <a:ext cx="1737360" cy="65196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DCE6F5"/>
                </a:solidFill>
                <a:latin typeface="Times New Roman"/>
              </a:rPr>
              <a:t>real daily sales rows, 2013–2017</a:t>
            </a:r>
          </a:p>
        </p:txBody>
      </p:sp>
      <p:sp>
        <p:nvSpPr>
          <p:cNvPr id="12" name="Stat 500"/>
          <p:cNvSpPr/>
          <p:nvPr/>
        </p:nvSpPr>
        <p:spPr>
          <a:xfrm>
            <a:off x="3017520" y="132588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399032"/>
            <a:ext cx="1737360" cy="7086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00A30"/>
                </a:solidFill>
                <a:latin typeface="Times New Roman"/>
              </a:rPr>
              <a:t>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034540"/>
            <a:ext cx="1737360" cy="65196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store–item series forecast</a:t>
            </a:r>
          </a:p>
        </p:txBody>
      </p:sp>
      <p:sp>
        <p:nvSpPr>
          <p:cNvPr id="15" name="Stat 4"/>
          <p:cNvSpPr/>
          <p:nvPr/>
        </p:nvSpPr>
        <p:spPr>
          <a:xfrm>
            <a:off x="5120640" y="132588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399032"/>
            <a:ext cx="1737360" cy="7086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00A30"/>
                </a:solidFill>
                <a:latin typeface="Times New Roma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034540"/>
            <a:ext cx="1737360" cy="65196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forecasting models benchmarked</a:t>
            </a:r>
          </a:p>
        </p:txBody>
      </p:sp>
      <p:sp>
        <p:nvSpPr>
          <p:cNvPr id="18" name="Stat 10"/>
          <p:cNvSpPr/>
          <p:nvPr/>
        </p:nvSpPr>
        <p:spPr>
          <a:xfrm>
            <a:off x="7223760" y="132588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399032"/>
            <a:ext cx="1737360" cy="7086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00A30"/>
                </a:solidFill>
                <a:latin typeface="Times New Roman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034540"/>
            <a:ext cx="1737360" cy="65196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screens built from the design</a:t>
            </a:r>
          </a:p>
        </p:txBody>
      </p:sp>
      <p:sp>
        <p:nvSpPr>
          <p:cNvPr id="21" name="Stat 118"/>
          <p:cNvSpPr/>
          <p:nvPr/>
        </p:nvSpPr>
        <p:spPr>
          <a:xfrm>
            <a:off x="9326880" y="132588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399032"/>
            <a:ext cx="1737360" cy="7086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00A30"/>
                </a:solidFill>
                <a:latin typeface="Times New Roman"/>
              </a:rPr>
              <a:t>118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034540"/>
            <a:ext cx="1737360" cy="65196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automated tests passing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9718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0A30"/>
                </a:solidFill>
                <a:latin typeface="Times New Roman"/>
              </a:rPr>
              <a:t>What was built</a:t>
            </a:r>
          </a:p>
        </p:txBody>
      </p:sp>
      <p:sp>
        <p:nvSpPr>
          <p:cNvPr id="25" name="Module Data pipeline"/>
          <p:cNvSpPr/>
          <p:nvPr/>
        </p:nvSpPr>
        <p:spPr>
          <a:xfrm>
            <a:off x="914400" y="3429000"/>
            <a:ext cx="2395728" cy="5029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429000"/>
            <a:ext cx="2395728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0A30"/>
                </a:solidFill>
                <a:latin typeface="Times New Roman"/>
              </a:rPr>
              <a:t>Data pipeline</a:t>
            </a:r>
          </a:p>
        </p:txBody>
      </p:sp>
      <p:sp>
        <p:nvSpPr>
          <p:cNvPr id="27" name="Module Forecasting"/>
          <p:cNvSpPr/>
          <p:nvPr/>
        </p:nvSpPr>
        <p:spPr>
          <a:xfrm>
            <a:off x="3493008" y="3429000"/>
            <a:ext cx="2395728" cy="5029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3008" y="3429000"/>
            <a:ext cx="2395728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0A30"/>
                </a:solidFill>
                <a:latin typeface="Times New Roman"/>
              </a:rPr>
              <a:t>Forecasting</a:t>
            </a:r>
          </a:p>
        </p:txBody>
      </p:sp>
      <p:sp>
        <p:nvSpPr>
          <p:cNvPr id="29" name="Module Risk &amp; anomalies"/>
          <p:cNvSpPr/>
          <p:nvPr/>
        </p:nvSpPr>
        <p:spPr>
          <a:xfrm>
            <a:off x="6071616" y="3429000"/>
            <a:ext cx="2395728" cy="5029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71616" y="3429000"/>
            <a:ext cx="2395728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0A30"/>
                </a:solidFill>
                <a:latin typeface="Times New Roman"/>
              </a:rPr>
              <a:t>Risk &amp; anomalies</a:t>
            </a:r>
          </a:p>
        </p:txBody>
      </p:sp>
      <p:sp>
        <p:nvSpPr>
          <p:cNvPr id="31" name="Module Recommendations"/>
          <p:cNvSpPr/>
          <p:nvPr/>
        </p:nvSpPr>
        <p:spPr>
          <a:xfrm>
            <a:off x="8650224" y="3429000"/>
            <a:ext cx="2395728" cy="5029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0224" y="3429000"/>
            <a:ext cx="2395728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0A30"/>
                </a:solidFill>
                <a:latin typeface="Times New Roman"/>
              </a:rPr>
              <a:t>Recommendations</a:t>
            </a:r>
          </a:p>
        </p:txBody>
      </p:sp>
      <p:sp>
        <p:nvSpPr>
          <p:cNvPr id="33" name="Module What-if simulator"/>
          <p:cNvSpPr/>
          <p:nvPr/>
        </p:nvSpPr>
        <p:spPr>
          <a:xfrm>
            <a:off x="914400" y="4069080"/>
            <a:ext cx="2395728" cy="5029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069080"/>
            <a:ext cx="2395728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0A30"/>
                </a:solidFill>
                <a:latin typeface="Times New Roman"/>
              </a:rPr>
              <a:t>What-if simulator</a:t>
            </a:r>
          </a:p>
        </p:txBody>
      </p:sp>
      <p:sp>
        <p:nvSpPr>
          <p:cNvPr id="35" name="Module Explainability"/>
          <p:cNvSpPr/>
          <p:nvPr/>
        </p:nvSpPr>
        <p:spPr>
          <a:xfrm>
            <a:off x="3493008" y="4069080"/>
            <a:ext cx="2395728" cy="5029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93008" y="4069080"/>
            <a:ext cx="2395728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0A30"/>
                </a:solidFill>
                <a:latin typeface="Times New Roman"/>
              </a:rPr>
              <a:t>Explainability</a:t>
            </a:r>
          </a:p>
        </p:txBody>
      </p:sp>
      <p:sp>
        <p:nvSpPr>
          <p:cNvPr id="37" name="Module Reports (PDF/Excel)"/>
          <p:cNvSpPr/>
          <p:nvPr/>
        </p:nvSpPr>
        <p:spPr>
          <a:xfrm>
            <a:off x="6071616" y="4069080"/>
            <a:ext cx="2395728" cy="5029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71616" y="4069080"/>
            <a:ext cx="2395728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0A30"/>
                </a:solidFill>
                <a:latin typeface="Times New Roman"/>
              </a:rPr>
              <a:t>Reports (PDF/Excel)</a:t>
            </a:r>
          </a:p>
        </p:txBody>
      </p:sp>
      <p:sp>
        <p:nvSpPr>
          <p:cNvPr id="39" name="Module Login &amp; roles"/>
          <p:cNvSpPr/>
          <p:nvPr/>
        </p:nvSpPr>
        <p:spPr>
          <a:xfrm>
            <a:off x="8650224" y="4069080"/>
            <a:ext cx="2395728" cy="5029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0224" y="4069080"/>
            <a:ext cx="2395728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0A30"/>
                </a:solidFill>
                <a:latin typeface="Times New Roman"/>
              </a:rPr>
              <a:t>Login &amp; roles</a:t>
            </a:r>
          </a:p>
        </p:txBody>
      </p:sp>
      <p:sp>
        <p:nvSpPr>
          <p:cNvPr id="41" name="Scope note"/>
          <p:cNvSpPr/>
          <p:nvPr/>
        </p:nvSpPr>
        <p:spPr>
          <a:xfrm>
            <a:off x="914400" y="4846320"/>
            <a:ext cx="10360152" cy="96012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 w="9525">
            <a:solidFill>
              <a:srgbClr val="E3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873752"/>
            <a:ext cx="10085832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2A44"/>
                </a:solidFill>
                <a:latin typeface="Times New Roman"/>
              </a:rPr>
              <a:t>Honest scope: </a:t>
            </a:r>
            <a:r>
              <a:rPr sz="1500" b="0" i="0">
                <a:solidFill>
                  <a:srgbClr val="1F2A44"/>
                </a:solidFill>
                <a:latin typeface="Times New Roman"/>
              </a:rPr>
              <a:t>only the sales are real data (Kaggle). Prices, costs, inventory, logistics costs and all anomaly labels are synthetic, so results show how well the method works, not how a real retailer would perform.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Forecasting: Model Comparison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9" name="Chart caption"/>
          <p:cNvSpPr txBox="1"/>
          <p:nvPr/>
        </p:nvSpPr>
        <p:spPr>
          <a:xfrm>
            <a:off x="822960" y="128016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0A30"/>
                </a:solidFill>
                <a:latin typeface="Times New Roman"/>
              </a:rPr>
              <a:t>MAPE % on the 90-day holdout (lower is better)</a:t>
            </a:r>
          </a:p>
        </p:txBody>
      </p:sp>
      <p:graphicFrame>
        <p:nvGraphicFramePr>
          <p:cNvPr id="10" name="MAPE by model"/>
          <p:cNvGraphicFramePr>
            <a:graphicFrameLocks noGrp="1"/>
          </p:cNvGraphicFramePr>
          <p:nvPr/>
        </p:nvGraphicFramePr>
        <p:xfrm>
          <a:off x="822960" y="1691640"/>
          <a:ext cx="6675120" cy="3931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Stat 13.0%"/>
          <p:cNvSpPr/>
          <p:nvPr/>
        </p:nvSpPr>
        <p:spPr>
          <a:xfrm>
            <a:off x="7818120" y="1325880"/>
            <a:ext cx="3383280" cy="1234440"/>
          </a:xfrm>
          <a:prstGeom prst="roundRect">
            <a:avLst>
              <a:gd name="adj" fmla="val 5000"/>
            </a:avLst>
          </a:prstGeom>
          <a:solidFill>
            <a:srgbClr val="000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399032"/>
            <a:ext cx="3200400" cy="6172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Times New Roman"/>
              </a:rPr>
              <a:t>13.0%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943100"/>
            <a:ext cx="3200400" cy="56784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DCE6F5"/>
                </a:solidFill>
                <a:latin typeface="Times New Roman"/>
              </a:rPr>
              <a:t>MAPE on all 500 series (target 10–15%)</a:t>
            </a:r>
          </a:p>
        </p:txBody>
      </p:sp>
      <p:sp>
        <p:nvSpPr>
          <p:cNvPr id="14" name="Stat 3.6%"/>
          <p:cNvSpPr/>
          <p:nvPr/>
        </p:nvSpPr>
        <p:spPr>
          <a:xfrm>
            <a:off x="7818120" y="2697480"/>
            <a:ext cx="3383280" cy="123444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770632"/>
            <a:ext cx="3200400" cy="6172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00A30"/>
                </a:solidFill>
                <a:latin typeface="Times New Roman"/>
              </a:rPr>
              <a:t>3.6%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314700"/>
            <a:ext cx="3200400" cy="56784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MAPE on daily chain totals</a:t>
            </a:r>
          </a:p>
        </p:txBody>
      </p:sp>
      <p:sp>
        <p:nvSpPr>
          <p:cNvPr id="17" name="Stat 47%"/>
          <p:cNvSpPr/>
          <p:nvPr/>
        </p:nvSpPr>
        <p:spPr>
          <a:xfrm>
            <a:off x="7818120" y="4069080"/>
            <a:ext cx="3383280" cy="123444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142232"/>
            <a:ext cx="3200400" cy="6172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00A30"/>
                </a:solidFill>
                <a:latin typeface="Times New Roman"/>
              </a:rPr>
              <a:t>47%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686300"/>
            <a:ext cx="3200400" cy="56784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lower error than the best naive baseline (24.5%)</a:t>
            </a:r>
          </a:p>
        </p:txBody>
      </p:sp>
      <p:sp>
        <p:nvSpPr>
          <p:cNvPr id="20" name="Footnote"/>
          <p:cNvSpPr txBox="1"/>
          <p:nvPr/>
        </p:nvSpPr>
        <p:spPr>
          <a:xfrm>
            <a:off x="822960" y="5669280"/>
            <a:ext cx="105430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675"/>
                </a:solidFill>
                <a:latin typeface="Times New Roman"/>
              </a:rPr>
              <a:t>Prophet and SARIMA fit one model per series, so all models are compared on a 20-series sample. XGBoost and LSTM also ran on all 500 series (13.0% and 13.2%).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Forecast Accuracy on Holdout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9" name="Chart caption"/>
          <p:cNvSpPr txBox="1"/>
          <p:nvPr/>
        </p:nvSpPr>
        <p:spPr>
          <a:xfrm>
            <a:off x="822960" y="1280160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0A30"/>
                </a:solidFill>
                <a:latin typeface="Times New Roman"/>
              </a:rPr>
              <a:t>Chain-wide units per week: actual vs predicted</a:t>
            </a:r>
          </a:p>
        </p:txBody>
      </p:sp>
      <p:graphicFrame>
        <p:nvGraphicFramePr>
          <p:cNvPr id="10" name="Actual vs predicted"/>
          <p:cNvGraphicFramePr>
            <a:graphicFrameLocks noGrp="1"/>
          </p:cNvGraphicFramePr>
          <p:nvPr/>
        </p:nvGraphicFramePr>
        <p:xfrm>
          <a:off x="822960" y="1691640"/>
          <a:ext cx="6766560" cy="3931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18120" y="128016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0A30"/>
                </a:solidFill>
                <a:latin typeface="Times New Roman"/>
              </a:rPr>
              <a:t>Error by forecast horizon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818120" y="1691640"/>
          <a:ext cx="3547872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1143000"/>
                <a:gridCol w="11704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Horizon</a:t>
                      </a:r>
                    </a:p>
                  </a:txBody>
                  <a:tcPr marL="73152" marR="73152" marT="27432" marB="27432" anchor="ctr">
                    <a:solidFill>
                      <a:srgbClr val="000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WAPE</a:t>
                      </a:r>
                    </a:p>
                  </a:txBody>
                  <a:tcPr marL="73152" marR="73152" marT="27432" marB="27432" anchor="ctr">
                    <a:solidFill>
                      <a:srgbClr val="000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Bias</a:t>
                      </a:r>
                    </a:p>
                  </a:txBody>
                  <a:tcPr marL="73152" marR="73152" marT="27432" marB="27432" anchor="ctr">
                    <a:solidFill>
                      <a:srgbClr val="000A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Days 1–30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10.8%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−1.8%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Days 31–60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10.8%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−3.9%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Days 61–90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13.0%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−5.0%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818120" y="3749039"/>
            <a:ext cx="3547872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Forecasts run slightly low and drift lower with the horizon.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Error is similar across the 10 stores (WAPE 10.4–13.2%) and 5 categories (10.7–12.1%).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822960" y="5760720"/>
            <a:ext cx="105430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675"/>
                </a:solidFill>
                <a:latin typeface="Times New Roman"/>
              </a:rPr>
              <a:t>WAPE = sum of absolute errors ÷ sum of actual units. Bias = predicted ÷ actual − 1.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Forecasts (SHAP)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9" name="Chart caption"/>
          <p:cNvSpPr txBox="1"/>
          <p:nvPr/>
        </p:nvSpPr>
        <p:spPr>
          <a:xfrm>
            <a:off x="822960" y="128016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0A30"/>
                </a:solidFill>
                <a:latin typeface="Times New Roman"/>
              </a:rPr>
              <a:t>What drives the forecast (share of mean |SHAP| %)</a:t>
            </a:r>
          </a:p>
        </p:txBody>
      </p:sp>
      <p:graphicFrame>
        <p:nvGraphicFramePr>
          <p:cNvPr id="10" name="SHAP importance"/>
          <p:cNvGraphicFramePr>
            <a:graphicFrameLocks noGrp="1"/>
          </p:cNvGraphicFramePr>
          <p:nvPr/>
        </p:nvGraphicFramePr>
        <p:xfrm>
          <a:off x="822960" y="1691640"/>
          <a:ext cx="6309360" cy="3931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406640" y="128016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0A30"/>
                </a:solidFill>
                <a:latin typeface="Times New Roman"/>
              </a:rPr>
              <a:t>By driver group</a:t>
            </a:r>
          </a:p>
        </p:txBody>
      </p:sp>
      <p:sp>
        <p:nvSpPr>
          <p:cNvPr id="12" name="Group Recent run-rate"/>
          <p:cNvSpPr/>
          <p:nvPr/>
        </p:nvSpPr>
        <p:spPr>
          <a:xfrm>
            <a:off x="7406640" y="1691640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691640"/>
            <a:ext cx="28346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F2A44"/>
                </a:solidFill>
                <a:latin typeface="Times New Roman"/>
              </a:rPr>
              <a:t>Recent run-rate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1691640"/>
            <a:ext cx="10058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000A30"/>
                </a:solidFill>
                <a:latin typeface="Times New Roman"/>
              </a:rPr>
              <a:t>55%</a:t>
            </a:r>
          </a:p>
        </p:txBody>
      </p:sp>
      <p:sp>
        <p:nvSpPr>
          <p:cNvPr id="15" name="Group Weekly pattern"/>
          <p:cNvSpPr/>
          <p:nvPr/>
        </p:nvSpPr>
        <p:spPr>
          <a:xfrm>
            <a:off x="7406640" y="2350008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350008"/>
            <a:ext cx="28346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F2A44"/>
                </a:solidFill>
                <a:latin typeface="Times New Roman"/>
              </a:rPr>
              <a:t>Weekly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2350008"/>
            <a:ext cx="10058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000A30"/>
                </a:solidFill>
                <a:latin typeface="Times New Roman"/>
              </a:rPr>
              <a:t>32%</a:t>
            </a:r>
          </a:p>
        </p:txBody>
      </p:sp>
      <p:sp>
        <p:nvSpPr>
          <p:cNvPr id="18" name="Group Seasonality &amp; events"/>
          <p:cNvSpPr/>
          <p:nvPr/>
        </p:nvSpPr>
        <p:spPr>
          <a:xfrm>
            <a:off x="7406640" y="3008376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3008376"/>
            <a:ext cx="28346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F2A44"/>
                </a:solidFill>
                <a:latin typeface="Times New Roman"/>
              </a:rPr>
              <a:t>Seasonality &amp;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008376"/>
            <a:ext cx="10058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000A30"/>
                </a:solidFill>
                <a:latin typeface="Times New Roman"/>
              </a:rPr>
              <a:t>11%</a:t>
            </a:r>
          </a:p>
        </p:txBody>
      </p:sp>
      <p:sp>
        <p:nvSpPr>
          <p:cNvPr id="21" name="Group Store / product baseline"/>
          <p:cNvSpPr/>
          <p:nvPr/>
        </p:nvSpPr>
        <p:spPr>
          <a:xfrm>
            <a:off x="7406640" y="3666744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3666744"/>
            <a:ext cx="28346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F2A44"/>
                </a:solidFill>
                <a:latin typeface="Times New Roman"/>
              </a:rPr>
              <a:t>Store / product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666744"/>
            <a:ext cx="10058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000A30"/>
                </a:solidFill>
                <a:latin typeface="Times New Roman"/>
              </a:rPr>
              <a:t>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370831"/>
            <a:ext cx="39319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Each forecast also gets a plain-language summary, a step-by-step contribution bridge and drift / fairness checks (PSI ≤ 0.12, store error parity 91%).</a:t>
            </a:r>
          </a:p>
        </p:txBody>
      </p:sp>
      <p:sp>
        <p:nvSpPr>
          <p:cNvPr id="25" name="Footnote"/>
          <p:cNvSpPr txBox="1"/>
          <p:nvPr/>
        </p:nvSpPr>
        <p:spPr>
          <a:xfrm>
            <a:off x="822960" y="5760720"/>
            <a:ext cx="105430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675"/>
                </a:solidFill>
                <a:latin typeface="Times New Roman"/>
              </a:rPr>
              <a:t>Price and promotion are not model inputs, so no price-elasticity curve is shown; the model relies on recent sales, weekday and season.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Results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9" name="Chart caption"/>
          <p:cNvSpPr txBox="1"/>
          <p:nvPr/>
        </p:nvSpPr>
        <p:spPr>
          <a:xfrm>
            <a:off x="822960" y="1280160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0A30"/>
                </a:solidFill>
                <a:latin typeface="Times New Roman"/>
              </a:rPr>
              <a:t>Precision, recall and F1 by detector</a:t>
            </a:r>
          </a:p>
        </p:txBody>
      </p:sp>
      <p:graphicFrame>
        <p:nvGraphicFramePr>
          <p:cNvPr id="10" name="Detector metrics"/>
          <p:cNvGraphicFramePr>
            <a:graphicFrameLocks noGrp="1"/>
          </p:cNvGraphicFramePr>
          <p:nvPr/>
        </p:nvGraphicFramePr>
        <p:xfrm>
          <a:off x="822960" y="1691640"/>
          <a:ext cx="6858000" cy="3931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Stat 0.68"/>
          <p:cNvSpPr/>
          <p:nvPr/>
        </p:nvSpPr>
        <p:spPr>
          <a:xfrm>
            <a:off x="7955279" y="1325880"/>
            <a:ext cx="3383280" cy="1188720"/>
          </a:xfrm>
          <a:prstGeom prst="roundRect">
            <a:avLst>
              <a:gd name="adj" fmla="val 5000"/>
            </a:avLst>
          </a:prstGeom>
          <a:solidFill>
            <a:srgbClr val="000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399032"/>
            <a:ext cx="320040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0.68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1920240"/>
            <a:ext cx="3200400" cy="54681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DCE6F5"/>
                </a:solidFill>
                <a:latin typeface="Times New Roman"/>
              </a:rPr>
              <a:t>ensemble F1 (precision 0.67, recall 0.70)</a:t>
            </a:r>
          </a:p>
        </p:txBody>
      </p:sp>
      <p:sp>
        <p:nvSpPr>
          <p:cNvPr id="14" name="Stat 79%"/>
          <p:cNvSpPr/>
          <p:nvPr/>
        </p:nvSpPr>
        <p:spPr>
          <a:xfrm>
            <a:off x="7955279" y="2651760"/>
            <a:ext cx="3383280" cy="11887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724912"/>
            <a:ext cx="320040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00A30"/>
                </a:solidFill>
                <a:latin typeface="Times New Roman"/>
              </a:rPr>
              <a:t>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3246120"/>
            <a:ext cx="3200400" cy="54681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of injected events caught at least once</a:t>
            </a:r>
          </a:p>
        </p:txBody>
      </p:sp>
      <p:sp>
        <p:nvSpPr>
          <p:cNvPr id="17" name="Stat 14 s"/>
          <p:cNvSpPr/>
          <p:nvPr/>
        </p:nvSpPr>
        <p:spPr>
          <a:xfrm>
            <a:off x="7955279" y="3977639"/>
            <a:ext cx="3383280" cy="11887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4050791"/>
            <a:ext cx="320040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00A30"/>
                </a:solidFill>
                <a:latin typeface="Times New Roman"/>
              </a:rPr>
              <a:t>14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4572000"/>
            <a:ext cx="3200400" cy="54681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full scan of 913,000 rows → 737 alerts</a:t>
            </a:r>
          </a:p>
        </p:txBody>
      </p:sp>
      <p:sp>
        <p:nvSpPr>
          <p:cNvPr id="20" name="Footnote"/>
          <p:cNvSpPr txBox="1"/>
          <p:nvPr/>
        </p:nvSpPr>
        <p:spPr>
          <a:xfrm>
            <a:off x="822960" y="5669280"/>
            <a:ext cx="105430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675"/>
                </a:solidFill>
                <a:latin typeface="Times New Roman"/>
              </a:rPr>
              <a:t>Voting beats every single detector. Labels are synthetic and real data contains unlabelled oddities, so precision is understated; this is not a fraud-detection accuracy claim.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What-If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9" name="Chart caption"/>
          <p:cNvSpPr txBox="1"/>
          <p:nvPr/>
        </p:nvSpPr>
        <p:spPr>
          <a:xfrm>
            <a:off x="822960" y="128016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0A30"/>
                </a:solidFill>
                <a:latin typeface="Times New Roman"/>
              </a:rPr>
              <a:t>49 recommended actions</a:t>
            </a:r>
          </a:p>
        </p:txBody>
      </p:sp>
      <p:graphicFrame>
        <p:nvGraphicFramePr>
          <p:cNvPr id="10" name="Actions by type"/>
          <p:cNvGraphicFramePr>
            <a:graphicFrameLocks noGrp="1"/>
          </p:cNvGraphicFramePr>
          <p:nvPr/>
        </p:nvGraphicFramePr>
        <p:xfrm>
          <a:off x="822960" y="1691640"/>
          <a:ext cx="4572000" cy="3931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Example action"/>
          <p:cNvSpPr/>
          <p:nvPr/>
        </p:nvSpPr>
        <p:spPr>
          <a:xfrm>
            <a:off x="5669280" y="1325880"/>
            <a:ext cx="5669280" cy="1600200"/>
          </a:xfrm>
          <a:prstGeom prst="roundRect">
            <a:avLst>
              <a:gd name="adj" fmla="val 5000"/>
            </a:avLst>
          </a:prstGeom>
          <a:solidFill>
            <a:srgbClr val="000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371600"/>
            <a:ext cx="539496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9FC8E8"/>
                </a:solidFill>
                <a:latin typeface="Times New Roman"/>
              </a:rPr>
              <a:t>Example action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Transfer 659 units of Consumer Tech Item 36 from Bengaluru Jayanagar to Hubballi Hub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DCE6F5"/>
                </a:solidFill>
                <a:latin typeface="Times New Roman"/>
              </a:rPr>
              <a:t>Donor holds 75 days of cover; surplus 3,715 units; confidence 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108960"/>
            <a:ext cx="566928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0A30"/>
                </a:solidFill>
                <a:latin typeface="Times New Roman"/>
              </a:rPr>
              <a:t>Calculation trail </a:t>
            </a:r>
            <a:r>
              <a:rPr sz="1500" b="0" i="0">
                <a:solidFill>
                  <a:srgbClr val="1F2A44"/>
                </a:solidFill>
                <a:latin typeface="Times New Roman"/>
              </a:rPr>
              <a:t>on every action, editable before approval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0A30"/>
                </a:solidFill>
                <a:latin typeface="Times New Roman"/>
              </a:rPr>
              <a:t>Monte Carlo what-if </a:t>
            </a:r>
            <a:r>
              <a:rPr sz="1500" b="0" i="0">
                <a:solidFill>
                  <a:srgbClr val="1F2A44"/>
                </a:solidFill>
                <a:latin typeface="Times New Roman"/>
              </a:rPr>
              <a:t>re-simulates 30 days of demand and stock for all 500 series in about 0.6 s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0A30"/>
                </a:solidFill>
                <a:latin typeface="Times New Roman"/>
              </a:rPr>
              <a:t>Example: </a:t>
            </a:r>
            <a:r>
              <a:rPr sz="1500" b="0" i="0">
                <a:solidFill>
                  <a:srgbClr val="1F2A44"/>
                </a:solidFill>
                <a:latin typeface="Times New Roman"/>
              </a:rPr>
              <a:t>an 8% price cut plus 12% voucher on electronics lifts units ≈49% but lowers profit — margins are thin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B26A00"/>
                </a:solidFill>
                <a:latin typeface="Times New Roman"/>
              </a:rPr>
              <a:t>Caveat: </a:t>
            </a:r>
            <a:r>
              <a:rPr sz="1500" b="0" i="0">
                <a:solidFill>
                  <a:srgbClr val="1F2A44"/>
                </a:solidFill>
                <a:latin typeface="Times New Roman"/>
              </a:rPr>
              <a:t>price and budget effects rest on assumptions; quality has no real-outcome validation yet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Deployment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0A30"/>
                </a:solidFill>
                <a:latin typeface="Times New Roman"/>
              </a:rPr>
              <a:t>Measured performance (913,000 rows, 500 series)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691640"/>
          <a:ext cx="585216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14800"/>
                <a:gridCol w="17373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Operation</a:t>
                      </a:r>
                    </a:p>
                  </a:txBody>
                  <a:tcPr marL="73152" marR="73152" marT="27432" marB="27432" anchor="ctr">
                    <a:solidFill>
                      <a:srgbClr val="000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Time</a:t>
                      </a:r>
                    </a:p>
                  </a:txBody>
                  <a:tcPr marL="73152" marR="73152" marT="27432" marB="27432" anchor="ctr">
                    <a:solidFill>
                      <a:srgbClr val="000A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Clean data + engineer features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2.5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90-day forecast, all 500 series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0.2–0.4 s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Typical page request (API)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15–60 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What-if simulation (250 runs)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0.6 s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Anomaly scan of full history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14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Train + benchmark 4 models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127 s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</a:tr>
            </a:tbl>
          </a:graphicData>
        </a:graphic>
      </p:graphicFrame>
      <p:sp>
        <p:nvSpPr>
          <p:cNvPr id="11" name="Stat 79 + 39"/>
          <p:cNvSpPr/>
          <p:nvPr/>
        </p:nvSpPr>
        <p:spPr>
          <a:xfrm>
            <a:off x="6949440" y="1325880"/>
            <a:ext cx="2148840" cy="137160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79" y="139903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0A30"/>
                </a:solidFill>
                <a:latin typeface="Times New Roman"/>
              </a:rPr>
              <a:t>79 + 39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2011680"/>
            <a:ext cx="1965960" cy="6309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backend + frontend tests</a:t>
            </a:r>
          </a:p>
        </p:txBody>
      </p:sp>
      <p:sp>
        <p:nvSpPr>
          <p:cNvPr id="14" name="Stat 91%"/>
          <p:cNvSpPr/>
          <p:nvPr/>
        </p:nvSpPr>
        <p:spPr>
          <a:xfrm>
            <a:off x="9235440" y="1325880"/>
            <a:ext cx="2148840" cy="1371600"/>
          </a:xfrm>
          <a:prstGeom prst="roundRect">
            <a:avLst>
              <a:gd name="adj" fmla="val 5000"/>
            </a:avLst>
          </a:prstGeom>
          <a:solidFill>
            <a:srgbClr val="000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39903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91%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011680"/>
            <a:ext cx="1965960" cy="6309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DCE6F5"/>
                </a:solidFill>
                <a:latin typeface="Times New Roman"/>
              </a:rPr>
              <a:t>backend line coverage</a:t>
            </a:r>
          </a:p>
        </p:txBody>
      </p:sp>
      <p:sp>
        <p:nvSpPr>
          <p:cNvPr id="17" name="Stat 23/23"/>
          <p:cNvSpPr/>
          <p:nvPr/>
        </p:nvSpPr>
        <p:spPr>
          <a:xfrm>
            <a:off x="6949440" y="2834640"/>
            <a:ext cx="2148840" cy="137160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79" y="290779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A30"/>
                </a:solidFill>
                <a:latin typeface="Times New Roman"/>
              </a:rPr>
              <a:t>23/23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3520440"/>
            <a:ext cx="1965960" cy="6309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end-to-end checks in Docker</a:t>
            </a:r>
          </a:p>
        </p:txBody>
      </p:sp>
      <p:sp>
        <p:nvSpPr>
          <p:cNvPr id="20" name="Stat 3 roles"/>
          <p:cNvSpPr/>
          <p:nvPr/>
        </p:nvSpPr>
        <p:spPr>
          <a:xfrm>
            <a:off x="9235440" y="2834640"/>
            <a:ext cx="2148840" cy="137160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90779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A30"/>
                </a:solidFill>
                <a:latin typeface="Times New Roman"/>
              </a:rPr>
              <a:t>3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520440"/>
            <a:ext cx="1965960" cy="6309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JWT login + 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389120"/>
            <a:ext cx="44348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One command to run: docker compose up --build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Times New Roman"/>
              </a:rPr>
              <a:t>Admin, Manager and Analyst permissions enforced by the API; every action is written to a hash-chained audit log.</a:t>
            </a:r>
          </a:p>
        </p:txBody>
      </p:sp>
      <p:sp>
        <p:nvSpPr>
          <p:cNvPr id="24" name="Footnote"/>
          <p:cNvSpPr txBox="1"/>
          <p:nvPr/>
        </p:nvSpPr>
        <p:spPr>
          <a:xfrm>
            <a:off x="822960" y="5760720"/>
            <a:ext cx="105430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5675"/>
                </a:solidFill>
                <a:latin typeface="Times New Roman"/>
              </a:rPr>
              <a:t>Docker tested on Docker Desktop for Windows; MySQL was not tested (SQLite is the default database).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 vs Outcomes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325880"/>
          <a:ext cx="10543032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0"/>
                <a:gridCol w="4754880"/>
                <a:gridCol w="2130552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Objective</a:t>
                      </a:r>
                    </a:p>
                  </a:txBody>
                  <a:tcPr marL="73152" marR="73152" marT="27432" marB="27432" anchor="ctr">
                    <a:solidFill>
                      <a:srgbClr val="000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Outcome</a:t>
                      </a:r>
                    </a:p>
                  </a:txBody>
                  <a:tcPr marL="73152" marR="73152" marT="27432" marB="27432" anchor="ctr">
                    <a:solidFill>
                      <a:srgbClr val="000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00A3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Unified ingestion &amp; preprocessing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CSV / Excel / Parquet pipeline, quality score 100/100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Times New Roman"/>
                        </a:rPr>
                        <a:t>Met (files only)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Forecast at product, category, region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4 models; MAPE 13.0% vs 10–15% target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Times New Roman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Anomaly detection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Ensemble F1 0.68 on injected anomalies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Times New Roman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Recommendation engine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49 actions with calculation trail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26A00"/>
                          </a:solidFill>
                          <a:latin typeface="Times New Roman"/>
                        </a:rPr>
                        <a:t>Built, not validated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Explainable 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Exact TreeSHAP; LIME not built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Times New Roman"/>
                        </a:rPr>
                        <a:t>Met (SHAP)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Interactive dashboard &amp; what-if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10 screens, simulator, PDF/Excel reports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Times New Roman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Evaluation with MAE/RMSE/MAPE, P/R/F1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Reproducible tables and figures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7F4B"/>
                          </a:solidFill>
                          <a:latin typeface="Times New Roman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Modular, secure, periodic retraining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44"/>
                          </a:solidFill>
                          <a:latin typeface="Times New Roman"/>
                        </a:rPr>
                        <a:t>Roles + audit done; retraining is manual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26A00"/>
                          </a:solidFill>
                          <a:latin typeface="Times New Roman"/>
                        </a:rPr>
                        <a:t>Partly met</a:t>
                      </a:r>
                    </a:p>
                  </a:txBody>
                  <a:tcPr marL="73152" marR="73152" marT="27432" marB="27432" anchor="ctr">
                    <a:solidFill>
                      <a:srgbClr val="E9EF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464" y="66301"/>
            <a:ext cx="9558336" cy="69569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78" y="0"/>
            <a:ext cx="1284685" cy="11698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2" y="66301"/>
            <a:ext cx="101560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40119" y="6365077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  <a:cs typeface="+mn-cs"/>
              </a:rPr>
              <a:t>www.cambridge.edu.in</a:t>
            </a: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184423" y="6458184"/>
            <a:ext cx="473154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b="1" i="1" dirty="0">
                <a:solidFill>
                  <a:schemeClr val="bg1"/>
                </a:solidFill>
                <a:latin typeface="Calibri Light" pitchFamily="34" charset="0"/>
              </a:rPr>
              <a:t>Department of</a:t>
            </a:r>
            <a:r>
              <a:rPr lang="en-US" b="1" dirty="0">
                <a:solidFill>
                  <a:schemeClr val="bg1"/>
                </a:solidFill>
                <a:latin typeface="Calibri Light" pitchFamily="34" charset="0"/>
              </a:rPr>
              <a:t> Master of Computer Applications</a:t>
            </a:r>
            <a:endParaRPr lang="en-IN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9" name="Conclusion"/>
          <p:cNvSpPr/>
          <p:nvPr/>
        </p:nvSpPr>
        <p:spPr>
          <a:xfrm>
            <a:off x="822960" y="1417320"/>
            <a:ext cx="3337560" cy="4160520"/>
          </a:xfrm>
          <a:prstGeom prst="roundRect">
            <a:avLst>
              <a:gd name="adj" fmla="val 5000"/>
            </a:avLst>
          </a:prstGeom>
          <a:solidFill>
            <a:srgbClr val="000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81328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03120"/>
            <a:ext cx="29718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Integrating forecasting, risk detection, recommendations and explanations in one tool works as a prototype.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Forecast error 13.0% MAPE, 47% better than naive; the anomaly ensemble beats every single detector.</a:t>
            </a:r>
          </a:p>
        </p:txBody>
      </p:sp>
      <p:sp>
        <p:nvSpPr>
          <p:cNvPr id="12" name="Limitations"/>
          <p:cNvSpPr/>
          <p:nvPr/>
        </p:nvSpPr>
        <p:spPr>
          <a:xfrm>
            <a:off x="4425696" y="1417320"/>
            <a:ext cx="3337560" cy="41605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481328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0A30"/>
                </a:solidFill>
                <a:latin typeface="Times New Roman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03120"/>
            <a:ext cx="29718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F2A44"/>
                </a:solidFill>
                <a:latin typeface="Times New Roman"/>
              </a:rPr>
              <a:t>Only sales are real; other data are synthetic.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F2A44"/>
                </a:solidFill>
                <a:latin typeface="Times New Roman"/>
              </a:rPr>
              <a:t>Batch scans, not real-time; no scheduler or database / ERP connectors.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F2A44"/>
                </a:solidFill>
                <a:latin typeface="Times New Roman"/>
              </a:rPr>
              <a:t>Recommendation quality and usability not yet validated with users.</a:t>
            </a:r>
          </a:p>
        </p:txBody>
      </p:sp>
      <p:sp>
        <p:nvSpPr>
          <p:cNvPr id="15" name="Future work"/>
          <p:cNvSpPr/>
          <p:nvPr/>
        </p:nvSpPr>
        <p:spPr>
          <a:xfrm>
            <a:off x="8028431" y="1417320"/>
            <a:ext cx="3337560" cy="416052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B9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1481328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0A30"/>
                </a:solidFill>
                <a:latin typeface="Times New Roman"/>
              </a:rPr>
              <a:t>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2103120"/>
            <a:ext cx="29718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F2A44"/>
                </a:solidFill>
                <a:latin typeface="Times New Roman"/>
              </a:rPr>
              <a:t>Pilot with a real retailer's data.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F2A44"/>
                </a:solidFill>
                <a:latin typeface="Times New Roman"/>
              </a:rPr>
              <a:t>Scheduled retraining and report delivery.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F2A44"/>
                </a:solidFill>
                <a:latin typeface="Times New Roman"/>
              </a:rPr>
              <a:t>Reduce forecast bias; make risk alerts feed recommendations.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F2A44"/>
                </a:solidFill>
                <a:latin typeface="Times New Roman"/>
              </a:rPr>
              <a:t>Run the user study (SUS).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1336</Words>
  <Application>Microsoft Office PowerPoint</Application>
  <PresentationFormat>Widescreen</PresentationFormat>
  <Paragraphs>124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Department of Master of Computer Applications</vt:lpstr>
      <vt:lpstr>Problem Statement </vt:lpstr>
      <vt:lpstr>Motivation </vt:lpstr>
      <vt:lpstr>Existing System </vt:lpstr>
      <vt:lpstr>Proposed System</vt:lpstr>
      <vt:lpstr>Objectives </vt:lpstr>
      <vt:lpstr>Objectives (contd) </vt:lpstr>
      <vt:lpstr>System Architecture</vt:lpstr>
      <vt:lpstr>Tools and Technologies</vt:lpstr>
      <vt:lpstr>Expected Outcomes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Master of Computer Applications</dc:title>
  <dc:creator>user</dc:creator>
  <cp:lastModifiedBy>Lalit Chandran Gopalakrishnan</cp:lastModifiedBy>
  <cp:revision>10</cp:revision>
  <dcterms:created xsi:type="dcterms:W3CDTF">2026-09-18T06:25:13Z</dcterms:created>
  <dcterms:modified xsi:type="dcterms:W3CDTF">2026-09-29T07:01:45Z</dcterms:modified>
</cp:coreProperties>
</file>